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F0250-C823-4920-B78D-983A9108D44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FBD82-E80B-41A1-9D4C-850FAC5A29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429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FBD82-E80B-41A1-9D4C-850FAC5A290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300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Wind Turbine Failure Analysis -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EDA Insights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vs Non-Failure Distribution</a:t>
            </a:r>
          </a:p>
        </p:txBody>
      </p:sp>
      <p:pic>
        <p:nvPicPr>
          <p:cNvPr id="3" name="Picture 2" descr="chart1_failure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6" y="1317522"/>
            <a:ext cx="5176684" cy="32213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167B29-311F-3364-037F-1204BA8E05F3}"/>
              </a:ext>
            </a:extLst>
          </p:cNvPr>
          <p:cNvSpPr txBox="1"/>
          <p:nvPr/>
        </p:nvSpPr>
        <p:spPr>
          <a:xfrm>
            <a:off x="1466850" y="4705350"/>
            <a:ext cx="6105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#1 — Failures are rare</a:t>
            </a:r>
          </a:p>
          <a:p>
            <a:r>
              <a:rPr lang="en-US" dirty="0"/>
              <a:t>  Most of the records are normal (non-failure).</a:t>
            </a:r>
          </a:p>
          <a:p>
            <a:r>
              <a:rPr lang="en-US" dirty="0"/>
              <a:t>- So failure is a </a:t>
            </a:r>
            <a:r>
              <a:rPr lang="en-US" b="1" dirty="0"/>
              <a:t>rare event</a:t>
            </a:r>
            <a:r>
              <a:rPr lang="en-US" dirty="0"/>
              <a:t> (imbalanced dataset)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Gear Oil Temperature vs Failure</a:t>
            </a:r>
          </a:p>
        </p:txBody>
      </p:sp>
      <p:pic>
        <p:nvPicPr>
          <p:cNvPr id="3" name="Picture 2" descr="chart2_gear_o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" y="1417638"/>
            <a:ext cx="4521200" cy="2865883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A9EA681-51A9-69B0-DF28-F91B2F647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735705"/>
              </p:ext>
            </p:extLst>
          </p:nvPr>
        </p:nvGraphicFramePr>
        <p:xfrm>
          <a:off x="-643466" y="4687076"/>
          <a:ext cx="8229600" cy="1156177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64354246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156290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u="sng" dirty="0"/>
                        <a:t>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u="sng" dirty="0"/>
                        <a:t>Gear Oil Temp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018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~15°C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154862"/>
                  </a:ext>
                </a:extLst>
              </a:tr>
              <a:tr h="4246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~19.6°C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386431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7F87860B-21E8-2171-7BFD-F4A7B31CD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070" y="4278847"/>
            <a:ext cx="479213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Gear Oil Temperature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B77CCF-4756-99B7-E7B3-5EBFBD1C305E}"/>
              </a:ext>
            </a:extLst>
          </p:cNvPr>
          <p:cNvSpPr txBox="1"/>
          <p:nvPr/>
        </p:nvSpPr>
        <p:spPr>
          <a:xfrm>
            <a:off x="990070" y="5843253"/>
            <a:ext cx="7027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→ </a:t>
            </a:r>
            <a:r>
              <a:rPr lang="en-US" dirty="0"/>
              <a:t>Big temperature spike before failure</a:t>
            </a:r>
            <a:br>
              <a:rPr lang="en-US" dirty="0"/>
            </a:br>
            <a:r>
              <a:rPr lang="en-IN" dirty="0"/>
              <a:t>→</a:t>
            </a:r>
            <a:r>
              <a:rPr lang="en-US" dirty="0"/>
              <a:t> Gearbox lubrication breaking down </a:t>
            </a:r>
            <a:r>
              <a:rPr lang="en-IN" dirty="0"/>
              <a:t>→</a:t>
            </a:r>
            <a:r>
              <a:rPr lang="en-US" dirty="0"/>
              <a:t> mechanical friction increasing</a:t>
            </a:r>
          </a:p>
          <a:p>
            <a:r>
              <a:rPr lang="en-US" dirty="0"/>
              <a:t>  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Generator Bearing Temperature vs Failure</a:t>
            </a:r>
          </a:p>
        </p:txBody>
      </p:sp>
      <p:pic>
        <p:nvPicPr>
          <p:cNvPr id="3" name="Picture 2" descr="chart3_bea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15" y="1430153"/>
            <a:ext cx="4511651" cy="291410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594D88-A3E0-4369-89C6-BD4AAEE15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507164"/>
              </p:ext>
            </p:extLst>
          </p:nvPr>
        </p:nvGraphicFramePr>
        <p:xfrm>
          <a:off x="953729" y="5019463"/>
          <a:ext cx="4007154" cy="1097280"/>
        </p:xfrm>
        <a:graphic>
          <a:graphicData uri="http://schemas.openxmlformats.org/drawingml/2006/table">
            <a:tbl>
              <a:tblPr/>
              <a:tblGrid>
                <a:gridCol w="2003577">
                  <a:extLst>
                    <a:ext uri="{9D8B030D-6E8A-4147-A177-3AD203B41FA5}">
                      <a16:colId xmlns:a16="http://schemas.microsoft.com/office/drawing/2014/main" val="2858273457"/>
                    </a:ext>
                  </a:extLst>
                </a:gridCol>
                <a:gridCol w="2003577">
                  <a:extLst>
                    <a:ext uri="{9D8B030D-6E8A-4147-A177-3AD203B41FA5}">
                      <a16:colId xmlns:a16="http://schemas.microsoft.com/office/drawing/2014/main" val="200334319"/>
                    </a:ext>
                  </a:extLst>
                </a:gridCol>
              </a:tblGrid>
              <a:tr h="276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u="sng" dirty="0"/>
                        <a:t>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u="sng" dirty="0"/>
                        <a:t>Bearing Temp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45926"/>
                  </a:ext>
                </a:extLst>
              </a:tr>
              <a:tr h="276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~17.6°C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4383384"/>
                  </a:ext>
                </a:extLst>
              </a:tr>
              <a:tr h="276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~22.2°C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048832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0BE315C4-117A-0811-CEF6-01E91229A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15" y="2825484"/>
            <a:ext cx="853965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u="sng" dirty="0">
                <a:latin typeface="Arial" panose="020B0604020202020204" pitchFamily="34" charset="0"/>
              </a:rPr>
              <a:t>Average Bearing Temp: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Bearings overheating → internal mechanical stress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confirms a consistent thermal pattern.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Wind Speed vs Power Output</a:t>
            </a:r>
          </a:p>
        </p:txBody>
      </p:sp>
      <p:pic>
        <p:nvPicPr>
          <p:cNvPr id="3" name="Picture 2" descr="chart4_powe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91" y="1417638"/>
            <a:ext cx="4451978" cy="28365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ED695F-0A9C-B4D1-31C3-46D0B5153D52}"/>
              </a:ext>
            </a:extLst>
          </p:cNvPr>
          <p:cNvSpPr txBox="1"/>
          <p:nvPr/>
        </p:nvSpPr>
        <p:spPr>
          <a:xfrm>
            <a:off x="1030014" y="4456386"/>
            <a:ext cx="7010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As wind speed rises:</a:t>
            </a:r>
          </a:p>
          <a:p>
            <a:endParaRPr lang="en-US" dirty="0"/>
          </a:p>
          <a:p>
            <a:r>
              <a:rPr lang="en-US" dirty="0"/>
              <a:t>0 – 8 m/s     →    low power</a:t>
            </a:r>
            <a:br>
              <a:rPr lang="en-US" dirty="0"/>
            </a:br>
            <a:r>
              <a:rPr lang="en-US" dirty="0"/>
              <a:t>8 – 20 m/s   →   power increases sharply</a:t>
            </a:r>
            <a:br>
              <a:rPr lang="en-US" dirty="0"/>
            </a:br>
            <a:r>
              <a:rPr lang="en-US" dirty="0"/>
              <a:t>~23 m/s       →   </a:t>
            </a:r>
            <a:r>
              <a:rPr lang="en-US" b="1" dirty="0"/>
              <a:t>TURBINE PEAK POWER</a:t>
            </a:r>
          </a:p>
          <a:p>
            <a:r>
              <a:rPr lang="en-US" dirty="0"/>
              <a:t>25 m/s         →   power drops again (safety cut-out)</a:t>
            </a:r>
          </a:p>
          <a:p>
            <a:endParaRPr lang="en-US" dirty="0"/>
          </a:p>
          <a:p>
            <a:r>
              <a:rPr lang="en-US" dirty="0"/>
              <a:t>→ This proves the dataset is realistic (this is how real turbines behave)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E4673-DD11-36DA-8870-D8C8EE887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Correlation and Feature Insights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1B1B33-5B2C-2ABA-B17A-51814B6128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9406" y="1591091"/>
            <a:ext cx="5507421" cy="526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48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87C6F-3581-3B00-6E43-97E05A580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828800"/>
          </a:xfrm>
        </p:spPr>
        <p:txBody>
          <a:bodyPr>
            <a:noAutofit/>
          </a:bodyPr>
          <a:lstStyle/>
          <a:p>
            <a:r>
              <a:rPr lang="en-US" altLang="en-US" sz="3600" dirty="0">
                <a:latin typeface="Arial" panose="020B0604020202020204" pitchFamily="34" charset="0"/>
              </a:rPr>
              <a:t>Thermal sensors have the strongest relationship with failure</a:t>
            </a:r>
            <a:br>
              <a:rPr lang="en-US" altLang="en-US" sz="3600" dirty="0">
                <a:latin typeface="Arial" panose="020B0604020202020204" pitchFamily="34" charset="0"/>
              </a:rPr>
            </a:br>
            <a:endParaRPr lang="en-IN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5343F0-C7AD-AFD2-38CF-BF4B75734D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8034996"/>
              </p:ext>
            </p:extLst>
          </p:nvPr>
        </p:nvGraphicFramePr>
        <p:xfrm>
          <a:off x="630621" y="2689388"/>
          <a:ext cx="6495392" cy="1828800"/>
        </p:xfrm>
        <a:graphic>
          <a:graphicData uri="http://schemas.openxmlformats.org/drawingml/2006/table">
            <a:tbl>
              <a:tblPr/>
              <a:tblGrid>
                <a:gridCol w="3247696">
                  <a:extLst>
                    <a:ext uri="{9D8B030D-6E8A-4147-A177-3AD203B41FA5}">
                      <a16:colId xmlns:a16="http://schemas.microsoft.com/office/drawing/2014/main" val="96445283"/>
                    </a:ext>
                  </a:extLst>
                </a:gridCol>
                <a:gridCol w="3247696">
                  <a:extLst>
                    <a:ext uri="{9D8B030D-6E8A-4147-A177-3AD203B41FA5}">
                      <a16:colId xmlns:a16="http://schemas.microsoft.com/office/drawing/2014/main" val="241920381"/>
                    </a:ext>
                  </a:extLst>
                </a:gridCol>
              </a:tblGrid>
              <a:tr h="234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Sensor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Correlation with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408081"/>
                  </a:ext>
                </a:extLst>
              </a:tr>
              <a:tr h="234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Gear Oil Temp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685609"/>
                  </a:ext>
                </a:extLst>
              </a:tr>
              <a:tr h="234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Bearing Temp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313948"/>
                  </a:ext>
                </a:extLst>
              </a:tr>
              <a:tr h="234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Wheel Hub Temp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680566"/>
                  </a:ext>
                </a:extLst>
              </a:tr>
              <a:tr h="234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Nacelle Temp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92651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22F4A18-B806-BD6D-380B-47BA357A0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71" y="1766421"/>
            <a:ext cx="801413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heatmap showed: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B1807B-236D-E43F-C1D6-C80473C04C61}"/>
              </a:ext>
            </a:extLst>
          </p:cNvPr>
          <p:cNvSpPr txBox="1"/>
          <p:nvPr/>
        </p:nvSpPr>
        <p:spPr>
          <a:xfrm>
            <a:off x="630621" y="4929352"/>
            <a:ext cx="6337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→ </a:t>
            </a:r>
            <a:r>
              <a:rPr lang="en-US" b="1" dirty="0"/>
              <a:t>Temperature is the best failure predictor</a:t>
            </a:r>
          </a:p>
          <a:p>
            <a:endParaRPr lang="en-US" dirty="0"/>
          </a:p>
          <a:p>
            <a:r>
              <a:rPr lang="en-US" dirty="0"/>
              <a:t>Wind speed / yaw / direction → weak failure link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6591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793" y="1905000"/>
            <a:ext cx="8229600" cy="4678361"/>
          </a:xfrm>
        </p:spPr>
        <p:txBody>
          <a:bodyPr>
            <a:normAutofit/>
          </a:bodyPr>
          <a:lstStyle/>
          <a:p>
            <a:r>
              <a:rPr sz="3000" dirty="0"/>
              <a:t>Failures are rare in dataset</a:t>
            </a:r>
            <a:r>
              <a:rPr lang="en-IN" sz="3000" dirty="0"/>
              <a:t>.</a:t>
            </a:r>
            <a:endParaRPr sz="3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Turbine components(</a:t>
            </a:r>
            <a:r>
              <a:rPr lang="en-US" sz="2800" dirty="0"/>
              <a:t>Gear Oil &amp; Bearing Temps  )</a:t>
            </a:r>
            <a:r>
              <a:rPr lang="en-US" sz="3000" dirty="0"/>
              <a:t> heat up before failing.</a:t>
            </a:r>
          </a:p>
          <a:p>
            <a:r>
              <a:rPr sz="3000" dirty="0"/>
              <a:t>Wind vs Power curve realistic: peaks </a:t>
            </a:r>
            <a:r>
              <a:rPr lang="en-IN" sz="3000" dirty="0"/>
              <a:t> </a:t>
            </a:r>
            <a:r>
              <a:rPr sz="3000" dirty="0"/>
              <a:t>~23 m/s</a:t>
            </a:r>
            <a:r>
              <a:rPr lang="en-IN" sz="3000" dirty="0"/>
              <a:t>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Thermal sensors = strong predictors of failure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283</Words>
  <Application>Microsoft Office PowerPoint</Application>
  <PresentationFormat>On-screen Show (4:3)</PresentationFormat>
  <Paragraphs>66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Wind Turbine Failure Analysis - Project</vt:lpstr>
      <vt:lpstr>Failure vs Non-Failure Distribution</vt:lpstr>
      <vt:lpstr>Gear Oil Temperature vs Failure</vt:lpstr>
      <vt:lpstr>Generator Bearing Temperature vs Failure</vt:lpstr>
      <vt:lpstr>Wind Speed vs Power Output</vt:lpstr>
      <vt:lpstr>Correlation and Feature Insights</vt:lpstr>
      <vt:lpstr>Thermal sensors have the strongest relationship with failure </vt:lpstr>
      <vt:lpstr>Key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joshabanta behera</dc:creator>
  <cp:keywords/>
  <dc:description>generated using python-pptx</dc:description>
  <cp:lastModifiedBy>joshabanta behera</cp:lastModifiedBy>
  <cp:revision>4</cp:revision>
  <dcterms:created xsi:type="dcterms:W3CDTF">2013-01-27T09:14:16Z</dcterms:created>
  <dcterms:modified xsi:type="dcterms:W3CDTF">2025-11-05T07:27:32Z</dcterms:modified>
  <cp:category/>
</cp:coreProperties>
</file>